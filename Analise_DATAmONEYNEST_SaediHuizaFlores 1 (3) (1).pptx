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3" r:id="rId7"/>
    <p:sldId id="267" r:id="rId8"/>
    <p:sldId id="261" r:id="rId9"/>
    <p:sldId id="262" r:id="rId10"/>
    <p:sldId id="268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CB4EE-C0BB-6323-E7B3-7C7BBEC5DE7C}" v="164" dt="2026-07-26T20:44:56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D1B2A"/>
                </a:solidFill>
                <a:latin typeface="Arial"/>
              </a:rPr>
              <a:t>Evolução do Desempenho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659087926509185"/>
          <c:y val="0.19372954821786303"/>
          <c:w val="0.83169881889763775"/>
          <c:h val="0.639953827024499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Desempenho Mensal</c:v>
                </c:pt>
              </c:strCache>
            </c:strRef>
          </c:tx>
          <c:spPr>
            <a:solidFill>
              <a:srgbClr val="1A78C2">
                <a:alpha val="47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78</c:v>
                </c:pt>
                <c:pt idx="2">
                  <c:v>83</c:v>
                </c:pt>
                <c:pt idx="3">
                  <c:v>80</c:v>
                </c:pt>
                <c:pt idx="4">
                  <c:v>88</c:v>
                </c:pt>
                <c:pt idx="5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6A-47AC-A91A-DBF7B58541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bg1">
        <a:lumMod val="95000"/>
        <a:alpha val="27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45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EEC76-CBB3-5ED6-5742-37D205B9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FCF49-AC14-4710-C143-D53AA42A2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500F9-901D-B793-90E8-C82F77F81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BE2A7-18F8-ED50-2730-7BBFB35C5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0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76D2-5277-0464-D95B-1033CF38F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739CB-3B50-86E7-7E58-AD91F5621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F7375-D6CB-F839-188F-92ECEE949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B31FF-E96B-BB15-C9D5-155CE9F0E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27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4D62-9465-6FA9-4540-FDC26F0B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17A74-6666-7A2A-0BB2-2FC17B469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8F595-F296-4F1C-7950-4BE624C0D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8A4A1-8D7D-02F9-8F21-D8DB926F9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71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74320" y="3200400"/>
            <a:ext cx="3200400" cy="3200400"/>
          </a:xfrm>
          <a:prstGeom prst="ellipse">
            <a:avLst/>
          </a:prstGeom>
          <a:solidFill>
            <a:srgbClr val="1A78C2">
              <a:alpha val="20000"/>
            </a:srgbClr>
          </a:solidFill>
          <a:ln w="12700">
            <a:solidFill>
              <a:srgbClr val="1A78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0" y="274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Saedi Huiza Flores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640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062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06240" y="1097280"/>
            <a:ext cx="434721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4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Educação Financeira Orientada Por Dados </a:t>
            </a:r>
            <a:endParaRPr lang="pt-BR" sz="4400">
              <a:latin typeface="Cambria"/>
              <a:ea typeface="Cambria"/>
              <a:cs typeface="Calibri"/>
            </a:endParaRPr>
          </a:p>
          <a:p>
            <a:pPr marL="0" indent="0">
              <a:buNone/>
            </a:pPr>
            <a:endParaRPr lang="pt-BR" sz="4400" dirty="0"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noProof="1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Monitoramento &amp; Indicadores Estratégicos</a:t>
            </a:r>
            <a:endParaRPr lang="en-US" sz="1300" noProof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286000" cy="3657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DATAMONEY NEXT</a:t>
            </a:r>
            <a:endParaRPr lang="en-US" sz="2200">
              <a:latin typeface="Cambria"/>
              <a:ea typeface="Cambr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1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Acompanhamento integrado</a:t>
            </a:r>
            <a:endParaRPr lang="en-US" sz="1200" noProof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Power BI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|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Saedi </a:t>
            </a:r>
            <a:r>
              <a:rPr lang="en-US" sz="900" noProof="1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Huiza </a:t>
            </a:r>
            <a:r>
              <a:rPr lang="en-US" sz="900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Flores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665335" y="153488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2331" y="1592798"/>
            <a:ext cx="2985952" cy="38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Quem</a:t>
            </a:r>
            <a:r>
              <a:rPr lang="pt-BR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eu ajudo?</a:t>
            </a:r>
            <a:endParaRPr lang="pt-BR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0432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BR" sz="1000" dirty="0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270727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6889" y="2825061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Qual problemas eles tem?</a:t>
            </a:r>
            <a:endParaRPr lang="pt-BR" sz="13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0432" y="2926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BR" sz="1000" noProof="1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621792" y="38361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32332" y="39974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Consequencias</a:t>
            </a:r>
            <a:endParaRPr lang="pt-BR" sz="1300" noProof="1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70432" y="4114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BR" sz="1000" dirty="0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9625" y="123825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33203" y="14439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89313" y="1474688"/>
            <a:ext cx="2741023" cy="52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Soluções</a:t>
            </a:r>
            <a:endParaRPr lang="pt-BR" sz="13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25386" y="178253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BR" sz="1000" dirty="0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22673" y="2496312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8571" y="267679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31768" y="2772809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Como funciona?</a:t>
            </a:r>
            <a:endParaRPr lang="pt-BR" sz="13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00497" y="2971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BR" sz="1000" dirty="0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Desempenho</a:t>
            </a:r>
            <a:endParaRPr lang="pt-BR" sz="800" noProof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|  QUEM EU AJUDO?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1">
                <a:solidFill>
                  <a:srgbClr val="3498DB"/>
                </a:solidFill>
                <a:latin typeface="Cambria"/>
                <a:ea typeface="Cambria"/>
                <a:cs typeface="Cambria" pitchFamily="34" charset="-120"/>
              </a:rPr>
              <a:t>Jovens Universitarios</a:t>
            </a:r>
            <a:endParaRPr lang="pt-BR" sz="1600" noProof="1">
              <a:latin typeface="Cambria"/>
              <a:ea typeface="Cambria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>
                <a:solidFill>
                  <a:srgbClr val="EAF0F6"/>
                </a:solidFill>
                <a:latin typeface="Calibri"/>
                <a:ea typeface="Calibri"/>
                <a:cs typeface="Calibri"/>
              </a:rPr>
              <a:t>.Gerenciando  a primeira renda independente </a:t>
            </a:r>
            <a:endParaRPr lang="pt-BR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00065" y="1236563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4F8FB"/>
          </a:solidFill>
          <a:ln w="12700">
            <a:solidFill>
              <a:srgbClr val="EAF0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5019403" y="128342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>
                <a:solidFill>
                  <a:srgbClr val="1A78C2"/>
                </a:solidFill>
                <a:latin typeface="Cambria"/>
                <a:ea typeface="Cambria"/>
              </a:rPr>
              <a:t>Profissionais Iniciais</a:t>
            </a:r>
            <a:endParaRPr lang="pt-BR" sz="1600">
              <a:latin typeface="Cambria"/>
              <a:ea typeface="Cambria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0863" y="1691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Construindo bases financeiras solidas para o longo prazo</a:t>
            </a:r>
            <a:endParaRPr lang="pt-BR" sz="115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85232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85232" y="32369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85232" y="38953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Desempenho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8F4D6C57-9B78-1D7D-6E01-ECBEC4DA3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92" y="2364690"/>
            <a:ext cx="3011867" cy="2042507"/>
          </a:xfrm>
          <a:prstGeom prst="rect">
            <a:avLst/>
          </a:prstGeom>
          <a:effectLst>
            <a:softEdge rad="228600"/>
          </a:effectLst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D6A3CFB7-0DF1-263A-D9A0-78DB38312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077" y="2240443"/>
            <a:ext cx="3216380" cy="2218345"/>
          </a:xfrm>
          <a:prstGeom prst="rect">
            <a:avLst/>
          </a:prstGeom>
          <a:effectLst>
            <a:softEdge rad="1651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980EF-3B22-B2D8-9370-B581CC73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0">
            <a:extLst>
              <a:ext uri="{FF2B5EF4-FFF2-40B4-BE49-F238E27FC236}">
                <a16:creationId xmlns:a16="http://schemas.microsoft.com/office/drawing/2014/main" id="{3CD20694-E04B-6AF9-A2C3-AF9DD55F5B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767633"/>
              </p:ext>
            </p:extLst>
          </p:nvPr>
        </p:nvGraphicFramePr>
        <p:xfrm>
          <a:off x="-1" y="-46010"/>
          <a:ext cx="9329195" cy="5590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6B208793-A55C-3F7B-9A1E-9A9D92F4F4E9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EAD25C-AC44-58F8-51A2-A7EC48A23036}"/>
              </a:ext>
            </a:extLst>
          </p:cNvPr>
          <p:cNvSpPr/>
          <p:nvPr/>
        </p:nvSpPr>
        <p:spPr>
          <a:xfrm>
            <a:off x="45720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| QUAL PROBLEMA ELES TEM?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D83ABC-31C7-1507-9058-0F11A523AE66}"/>
              </a:ext>
            </a:extLst>
          </p:cNvPr>
          <p:cNvSpPr/>
          <p:nvPr/>
        </p:nvSpPr>
        <p:spPr>
          <a:xfrm>
            <a:off x="365760" y="2253615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D566A4-079F-06C2-07C6-8D04121B99FE}"/>
              </a:ext>
            </a:extLst>
          </p:cNvPr>
          <p:cNvSpPr/>
          <p:nvPr/>
        </p:nvSpPr>
        <p:spPr>
          <a:xfrm>
            <a:off x="365760" y="2253615"/>
            <a:ext cx="1965960" cy="182880"/>
          </a:xfrm>
          <a:prstGeom prst="rect">
            <a:avLst/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01B136-48E1-65F2-0FE8-02300EDF7F68}"/>
              </a:ext>
            </a:extLst>
          </p:cNvPr>
          <p:cNvSpPr/>
          <p:nvPr/>
        </p:nvSpPr>
        <p:spPr>
          <a:xfrm>
            <a:off x="274320" y="2600325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4A2630-CD0C-C54D-06AE-198A27A1C6FA}"/>
              </a:ext>
            </a:extLst>
          </p:cNvPr>
          <p:cNvSpPr/>
          <p:nvPr/>
        </p:nvSpPr>
        <p:spPr>
          <a:xfrm>
            <a:off x="457200" y="3396615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Falta de Controle Financeiro</a:t>
            </a:r>
            <a:endParaRPr lang="pt-BR" sz="14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9B26595-271A-A70A-331F-76BF284EBB96}"/>
              </a:ext>
            </a:extLst>
          </p:cNvPr>
          <p:cNvSpPr/>
          <p:nvPr/>
        </p:nvSpPr>
        <p:spPr>
          <a:xfrm>
            <a:off x="2514600" y="224409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1A3747A-D69E-20D5-43E1-0A22EBEC80D5}"/>
              </a:ext>
            </a:extLst>
          </p:cNvPr>
          <p:cNvSpPr/>
          <p:nvPr/>
        </p:nvSpPr>
        <p:spPr>
          <a:xfrm>
            <a:off x="2514600" y="2244090"/>
            <a:ext cx="1965960" cy="182880"/>
          </a:xfrm>
          <a:prstGeom prst="rect">
            <a:avLst/>
          </a:prstGeom>
          <a:solidFill>
            <a:srgbClr val="0070C0"/>
          </a:solidFill>
          <a:ln w="12700">
            <a:solidFill>
              <a:srgbClr val="27AE60"/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AB8CDE-E88F-8114-10FC-56DA7480BEFD}"/>
              </a:ext>
            </a:extLst>
          </p:cNvPr>
          <p:cNvSpPr/>
          <p:nvPr/>
        </p:nvSpPr>
        <p:spPr>
          <a:xfrm>
            <a:off x="2606040" y="251841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CB7D397-033A-D6DE-87B8-5CD030FCE1CD}"/>
              </a:ext>
            </a:extLst>
          </p:cNvPr>
          <p:cNvSpPr/>
          <p:nvPr/>
        </p:nvSpPr>
        <p:spPr>
          <a:xfrm>
            <a:off x="2606040" y="338709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Dificuldade em Poupar Consistente</a:t>
            </a:r>
            <a:endParaRPr lang="pt-BR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14A6E5-7BAD-0422-18F2-7DD8B4070C3D}"/>
              </a:ext>
            </a:extLst>
          </p:cNvPr>
          <p:cNvSpPr/>
          <p:nvPr/>
        </p:nvSpPr>
        <p:spPr>
          <a:xfrm>
            <a:off x="4663440" y="2253615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C84A8E-97B6-E9A1-1917-0336A72AB2B3}"/>
              </a:ext>
            </a:extLst>
          </p:cNvPr>
          <p:cNvSpPr/>
          <p:nvPr/>
        </p:nvSpPr>
        <p:spPr>
          <a:xfrm>
            <a:off x="4663440" y="2253615"/>
            <a:ext cx="196596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087058-6CC8-E79D-9633-811C7732D426}"/>
              </a:ext>
            </a:extLst>
          </p:cNvPr>
          <p:cNvSpPr/>
          <p:nvPr/>
        </p:nvSpPr>
        <p:spPr>
          <a:xfrm>
            <a:off x="4754880" y="2527935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491E09-2F3F-A930-32AE-F277DE533985}"/>
              </a:ext>
            </a:extLst>
          </p:cNvPr>
          <p:cNvSpPr/>
          <p:nvPr/>
        </p:nvSpPr>
        <p:spPr>
          <a:xfrm>
            <a:off x="4754880" y="3396615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Sem Planejamento Financeiro Claro</a:t>
            </a:r>
            <a:endParaRPr lang="pt-BR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7EF2C96-695A-816C-4A2F-B1F4E8680992}"/>
              </a:ext>
            </a:extLst>
          </p:cNvPr>
          <p:cNvSpPr/>
          <p:nvPr/>
        </p:nvSpPr>
        <p:spPr>
          <a:xfrm>
            <a:off x="6821805" y="22631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6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86E8140-AEA0-367E-8298-A30B3780DF25}"/>
              </a:ext>
            </a:extLst>
          </p:cNvPr>
          <p:cNvSpPr/>
          <p:nvPr/>
        </p:nvSpPr>
        <p:spPr>
          <a:xfrm>
            <a:off x="6821805" y="2263140"/>
            <a:ext cx="1965960" cy="1828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4DDC102-ECA2-1568-DCBC-EF7905466224}"/>
              </a:ext>
            </a:extLst>
          </p:cNvPr>
          <p:cNvSpPr/>
          <p:nvPr/>
        </p:nvSpPr>
        <p:spPr>
          <a:xfrm>
            <a:off x="6913245" y="25374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41E366B-4E39-9E45-9D44-F1AB22AA20C3}"/>
              </a:ext>
            </a:extLst>
          </p:cNvPr>
          <p:cNvSpPr/>
          <p:nvPr/>
        </p:nvSpPr>
        <p:spPr>
          <a:xfrm>
            <a:off x="6913245" y="34061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Sonhos não Realizados</a:t>
            </a:r>
            <a:endParaRPr lang="pt-BR" sz="14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FE4241A-12D8-0136-2CC1-5FDFB8132243}"/>
              </a:ext>
            </a:extLst>
          </p:cNvPr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Desempenho</a:t>
            </a:r>
            <a:endParaRPr lang="pt-BR" sz="800">
              <a:latin typeface="Calibri"/>
              <a:ea typeface="Calibri"/>
              <a:cs typeface="Calibri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CB3439C-B873-D992-3BA2-FB465A809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203" y="2542032"/>
            <a:ext cx="731074" cy="681228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B6798C2F-F2BA-2E52-9B05-C2ACD3A64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4673" y="2454402"/>
            <a:ext cx="923925" cy="84772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725DECB0-4758-1DC1-C5F5-696DD08AA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745" y="2439162"/>
            <a:ext cx="895350" cy="809625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A4301BC-7F2D-4CF2-1266-E24886215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230" y="2473452"/>
            <a:ext cx="986567" cy="108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0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2847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| CONSEQUÊNCIAS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92804"/>
            <a:ext cx="1482495" cy="1472946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5" name="Shape 3"/>
          <p:cNvSpPr/>
          <p:nvPr/>
        </p:nvSpPr>
        <p:spPr>
          <a:xfrm>
            <a:off x="365760" y="1292804"/>
            <a:ext cx="1482495" cy="147295"/>
          </a:xfrm>
          <a:prstGeom prst="rect">
            <a:avLst/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567124"/>
            <a:ext cx="1344588" cy="662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71390"/>
            <a:ext cx="1344588" cy="478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pt-BR" sz="14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Ciclo de Endividamento</a:t>
            </a:r>
            <a:endParaRPr lang="pt-BR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04594" y="3010058"/>
            <a:ext cx="1610900" cy="15108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04594" y="3010058"/>
            <a:ext cx="1610900" cy="151081"/>
          </a:xfrm>
          <a:prstGeom prst="rect">
            <a:avLst/>
          </a:prstGeom>
          <a:solidFill>
            <a:srgbClr val="0070C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96036" y="3284378"/>
            <a:ext cx="1461048" cy="679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48783" y="3872437"/>
            <a:ext cx="1461048" cy="49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14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Estresse e Produtividade</a:t>
            </a:r>
            <a:endParaRPr lang="pt-BR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45842" y="1343036"/>
            <a:ext cx="1610900" cy="1395568"/>
          </a:xfrm>
          <a:prstGeom prst="roundRect">
            <a:avLst>
              <a:gd name="adj" fmla="val 10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145842" y="1343036"/>
            <a:ext cx="1610900" cy="141566"/>
          </a:xfrm>
          <a:prstGeom prst="rect">
            <a:avLst/>
          </a:prstGeom>
          <a:solidFill>
            <a:srgbClr val="0070C0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237282" y="1617356"/>
            <a:ext cx="1461049" cy="637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220767" y="2157111"/>
            <a:ext cx="1461049" cy="4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Insegurança</a:t>
            </a:r>
            <a:r>
              <a:rPr lang="en-US" sz="14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14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Critica</a:t>
            </a:r>
            <a:endParaRPr lang="pt-BR" sz="1400" noProof="1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4286" y="1373764"/>
            <a:ext cx="4060412" cy="3276803"/>
          </a:xfrm>
          <a:prstGeom prst="roundRect">
            <a:avLst>
              <a:gd name="adj" fmla="val 15597"/>
            </a:avLst>
          </a:prstGeom>
          <a:solidFill>
            <a:srgbClr val="FFFFFF">
              <a:alpha val="83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903720" y="1508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</a:t>
            </a:r>
            <a:r>
              <a:rPr lang="en-US" sz="8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o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38DF404-F8C9-7B91-138C-A5536FC7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781" y="1620895"/>
            <a:ext cx="630050" cy="53121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E850BF06-C20B-A5F1-11A8-228902B4A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588" y="3216332"/>
            <a:ext cx="843439" cy="656105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B8A22E31-70B0-FAC7-AFA9-63335E1F7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47" y="1549381"/>
            <a:ext cx="764466" cy="579792"/>
          </a:xfrm>
          <a:prstGeom prst="rect">
            <a:avLst/>
          </a:prstGeom>
        </p:spPr>
      </p:pic>
      <p:sp>
        <p:nvSpPr>
          <p:cNvPr id="36" name="Shape 3">
            <a:extLst>
              <a:ext uri="{FF2B5EF4-FFF2-40B4-BE49-F238E27FC236}">
                <a16:creationId xmlns:a16="http://schemas.microsoft.com/office/drawing/2014/main" id="{7C6F638D-C66C-2F59-C47D-BAA3E5915630}"/>
              </a:ext>
            </a:extLst>
          </p:cNvPr>
          <p:cNvSpPr/>
          <p:nvPr/>
        </p:nvSpPr>
        <p:spPr>
          <a:xfrm>
            <a:off x="4344286" y="1390341"/>
            <a:ext cx="4060412" cy="376753"/>
          </a:xfrm>
          <a:prstGeom prst="rect">
            <a:avLst/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3627CC18-BD67-EB67-DE56-C2081339AFF2}"/>
              </a:ext>
            </a:extLst>
          </p:cNvPr>
          <p:cNvSpPr/>
          <p:nvPr/>
        </p:nvSpPr>
        <p:spPr>
          <a:xfrm>
            <a:off x="4344286" y="4265773"/>
            <a:ext cx="4060412" cy="376753"/>
          </a:xfrm>
          <a:prstGeom prst="rect">
            <a:avLst/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009D4FBE-55BA-0C29-F57C-47DC2EF47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725181"/>
            <a:ext cx="3666693" cy="2532551"/>
          </a:xfrm>
          <a:prstGeom prst="rect">
            <a:avLst/>
          </a:prstGeom>
          <a:effectLst>
            <a:softEdge rad="2794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| SOLUÇÕES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1907" y="2862260"/>
            <a:ext cx="1456047" cy="1289494"/>
          </a:xfrm>
          <a:prstGeom prst="roundRect">
            <a:avLst>
              <a:gd name="adj" fmla="val 9091"/>
            </a:avLst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344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9552" y="2776430"/>
            <a:ext cx="1456047" cy="1361887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/>
          <p:nvPr/>
        </p:nvSpPr>
        <p:spPr>
          <a:xfrm>
            <a:off x="956787" y="2899216"/>
            <a:ext cx="492137" cy="502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3425496"/>
            <a:ext cx="233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dirty="0"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pt-BR" sz="1600" b="1">
                <a:latin typeface="Cambria"/>
                <a:ea typeface="Cambria"/>
                <a:cs typeface="Cambria" pitchFamily="34" charset="-120"/>
              </a:rPr>
              <a:t>Diagnostico</a:t>
            </a:r>
            <a:endParaRPr lang="pt-BR" sz="1600">
              <a:latin typeface="Cambria"/>
              <a:ea typeface="Cambr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3520440"/>
            <a:ext cx="23343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02375" y="2890400"/>
            <a:ext cx="4921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03405" y="3371841"/>
            <a:ext cx="1456047" cy="5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>
                <a:solidFill>
                  <a:srgbClr val="0D1B2A"/>
                </a:solidFill>
                <a:latin typeface="Cambria"/>
                <a:ea typeface="Cambria"/>
                <a:cs typeface="Cambria" pitchFamily="34" charset="-120"/>
              </a:rPr>
              <a:t>Planejamento Financeiro</a:t>
            </a:r>
            <a:endParaRPr lang="pt-BR" sz="1600">
              <a:latin typeface="Cambria"/>
              <a:ea typeface="Cambri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03699" y="2822722"/>
            <a:ext cx="1618536" cy="1396459"/>
          </a:xfrm>
          <a:prstGeom prst="roundRect">
            <a:avLst>
              <a:gd name="adj" fmla="val 10743"/>
            </a:avLst>
          </a:prstGeom>
          <a:solidFill>
            <a:srgbClr val="0070C0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255637" y="2930217"/>
            <a:ext cx="4921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80294" y="3395994"/>
            <a:ext cx="1167154" cy="62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Dashboard Power  BI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3520440"/>
            <a:ext cx="23343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0" y="4919472"/>
            <a:ext cx="89930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Desempenho</a:t>
            </a:r>
            <a:endParaRPr lang="pt-BR" sz="800" noProof="1">
              <a:latin typeface="Calibri"/>
              <a:ea typeface="Calibri"/>
              <a:cs typeface="Calibri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C84DAE6-A679-A5D1-D94A-9A1F2890C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2" y="1616803"/>
            <a:ext cx="7915469" cy="923925"/>
          </a:xfrm>
          <a:prstGeom prst="rect">
            <a:avLst/>
          </a:prstGeom>
        </p:spPr>
      </p:pic>
      <p:sp>
        <p:nvSpPr>
          <p:cNvPr id="23" name="Shape 12">
            <a:extLst>
              <a:ext uri="{FF2B5EF4-FFF2-40B4-BE49-F238E27FC236}">
                <a16:creationId xmlns:a16="http://schemas.microsoft.com/office/drawing/2014/main" id="{1663E015-A164-B9BD-D1A2-731CD7E1CE8A}"/>
              </a:ext>
            </a:extLst>
          </p:cNvPr>
          <p:cNvSpPr/>
          <p:nvPr/>
        </p:nvSpPr>
        <p:spPr>
          <a:xfrm>
            <a:off x="6788504" y="2901755"/>
            <a:ext cx="1731204" cy="1396459"/>
          </a:xfrm>
          <a:prstGeom prst="roundRect">
            <a:avLst>
              <a:gd name="adj" fmla="val 155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A03360CF-B3B8-493A-EF82-BE6684D1372D}"/>
              </a:ext>
            </a:extLst>
          </p:cNvPr>
          <p:cNvSpPr/>
          <p:nvPr/>
        </p:nvSpPr>
        <p:spPr>
          <a:xfrm>
            <a:off x="7478769" y="3022818"/>
            <a:ext cx="4921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26AEACE-9BE2-A71E-3A67-59B50A84B5C9}"/>
              </a:ext>
            </a:extLst>
          </p:cNvPr>
          <p:cNvSpPr/>
          <p:nvPr/>
        </p:nvSpPr>
        <p:spPr>
          <a:xfrm>
            <a:off x="6577084" y="3445885"/>
            <a:ext cx="2004215" cy="75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Acompanho  Continuo</a:t>
            </a:r>
            <a:endParaRPr lang="en-US" sz="16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757EE825-6A26-8227-4B9A-9C225CF809BE}"/>
              </a:ext>
            </a:extLst>
          </p:cNvPr>
          <p:cNvSpPr/>
          <p:nvPr/>
        </p:nvSpPr>
        <p:spPr>
          <a:xfrm>
            <a:off x="6577083" y="1176148"/>
            <a:ext cx="23343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A7B24-E78E-68D4-A6E3-C4156A80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6DBA917E-4996-DE99-1FBA-6FA03872EAEE}"/>
              </a:ext>
            </a:extLst>
          </p:cNvPr>
          <p:cNvSpPr/>
          <p:nvPr/>
        </p:nvSpPr>
        <p:spPr>
          <a:xfrm rot="5400000">
            <a:off x="2990112" y="-1422141"/>
            <a:ext cx="3163777" cy="8829680"/>
          </a:xfrm>
          <a:prstGeom prst="roundRect">
            <a:avLst>
              <a:gd name="adj" fmla="val 15546"/>
            </a:avLst>
          </a:prstGeom>
          <a:solidFill>
            <a:srgbClr val="F4F8FB"/>
          </a:solidFill>
          <a:ln w="12700">
            <a:solidFill>
              <a:srgbClr val="EAF0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488C755-DA55-74B4-2689-A1934E3F3504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pt-BR" dirty="0"/>
              <a:t>C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9B8F38-8E99-AAFE-3341-9E93ED80A105}"/>
              </a:ext>
            </a:extLst>
          </p:cNvPr>
          <p:cNvSpPr/>
          <p:nvPr/>
        </p:nvSpPr>
        <p:spPr>
          <a:xfrm>
            <a:off x="45720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| COMO FUNCIONA?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610526-9479-D727-859B-B25E554F6D86}"/>
              </a:ext>
            </a:extLst>
          </p:cNvPr>
          <p:cNvSpPr/>
          <p:nvPr/>
        </p:nvSpPr>
        <p:spPr>
          <a:xfrm>
            <a:off x="365760" y="2210483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981200-D356-563E-03BA-51C0B16158D6}"/>
              </a:ext>
            </a:extLst>
          </p:cNvPr>
          <p:cNvSpPr/>
          <p:nvPr/>
        </p:nvSpPr>
        <p:spPr>
          <a:xfrm>
            <a:off x="365760" y="2021888"/>
            <a:ext cx="1965960" cy="371475"/>
          </a:xfrm>
          <a:prstGeom prst="rect">
            <a:avLst/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chemeClr val="bg2"/>
                </a:solidFill>
              </a:rPr>
              <a:t>DIAGNOSTICO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9FD789-E87E-51D9-07A7-32553040F468}"/>
              </a:ext>
            </a:extLst>
          </p:cNvPr>
          <p:cNvSpPr/>
          <p:nvPr/>
        </p:nvSpPr>
        <p:spPr>
          <a:xfrm>
            <a:off x="274320" y="2557193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DAE866-8133-98E3-A9DD-84516EC467EF}"/>
              </a:ext>
            </a:extLst>
          </p:cNvPr>
          <p:cNvSpPr/>
          <p:nvPr/>
        </p:nvSpPr>
        <p:spPr>
          <a:xfrm>
            <a:off x="457200" y="3353483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Avaliar </a:t>
            </a:r>
            <a:r>
              <a:rPr lang="pt-BR" sz="1600" dirty="0" err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situação</a:t>
            </a:r>
            <a:r>
              <a:rPr lang="pt-BR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1600" dirty="0" err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financeira</a:t>
            </a:r>
            <a:r>
              <a:rPr lang="pt-BR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1600" dirty="0" err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atual</a:t>
            </a:r>
            <a:endParaRPr lang="pt-BR" sz="16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pt-BR" sz="1100" dirty="0">
              <a:ea typeface="Calibri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CF6F8E7-F079-D882-92D6-550F0FAB2DE2}"/>
              </a:ext>
            </a:extLst>
          </p:cNvPr>
          <p:cNvSpPr/>
          <p:nvPr/>
        </p:nvSpPr>
        <p:spPr>
          <a:xfrm>
            <a:off x="2514600" y="2200958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8112016-95F0-52A7-E15F-683F15C9EE2A}"/>
              </a:ext>
            </a:extLst>
          </p:cNvPr>
          <p:cNvSpPr/>
          <p:nvPr/>
        </p:nvSpPr>
        <p:spPr>
          <a:xfrm>
            <a:off x="2514600" y="2021888"/>
            <a:ext cx="1965960" cy="361950"/>
          </a:xfrm>
          <a:prstGeom prst="rect">
            <a:avLst/>
          </a:prstGeom>
          <a:solidFill>
            <a:srgbClr val="0070C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chemeClr val="bg2"/>
                </a:solidFill>
              </a:rPr>
              <a:t>PLANEJAMENTO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646B52-2466-9C59-4A81-DEA3A1F994C8}"/>
              </a:ext>
            </a:extLst>
          </p:cNvPr>
          <p:cNvSpPr/>
          <p:nvPr/>
        </p:nvSpPr>
        <p:spPr>
          <a:xfrm>
            <a:off x="2606040" y="247527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E24ADE-37D3-F4B6-61F0-6A8C3A017394}"/>
              </a:ext>
            </a:extLst>
          </p:cNvPr>
          <p:cNvSpPr/>
          <p:nvPr/>
        </p:nvSpPr>
        <p:spPr>
          <a:xfrm>
            <a:off x="2606040" y="3343958"/>
            <a:ext cx="1783080" cy="47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Criar orçamento e metas totalmente personalizados</a:t>
            </a:r>
            <a:endParaRPr lang="pt-BR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D1396E-26B1-E43F-3A99-93428DB30FA3}"/>
              </a:ext>
            </a:extLst>
          </p:cNvPr>
          <p:cNvSpPr/>
          <p:nvPr/>
        </p:nvSpPr>
        <p:spPr>
          <a:xfrm>
            <a:off x="4663440" y="2210483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0BEB577-A55E-848F-D573-7F9911414E30}"/>
              </a:ext>
            </a:extLst>
          </p:cNvPr>
          <p:cNvSpPr/>
          <p:nvPr/>
        </p:nvSpPr>
        <p:spPr>
          <a:xfrm>
            <a:off x="4663440" y="2021888"/>
            <a:ext cx="1965960" cy="371475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chemeClr val="bg2"/>
                </a:solidFill>
              </a:rPr>
              <a:t>DASHBOARD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5E2D02-D663-CF8B-E889-4E771B6F2246}"/>
              </a:ext>
            </a:extLst>
          </p:cNvPr>
          <p:cNvSpPr/>
          <p:nvPr/>
        </p:nvSpPr>
        <p:spPr>
          <a:xfrm>
            <a:off x="4754880" y="2484803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2E3473-A6ED-04AD-87BB-9DEBD3A0299B}"/>
              </a:ext>
            </a:extLst>
          </p:cNvPr>
          <p:cNvSpPr/>
          <p:nvPr/>
        </p:nvSpPr>
        <p:spPr>
          <a:xfrm>
            <a:off x="4754880" y="3249311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Rastrear evolução</a:t>
            </a:r>
            <a:r>
              <a:rPr lang="en-US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via Power BI </a:t>
            </a:r>
            <a:r>
              <a:rPr lang="pt-BR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dinâmico</a:t>
            </a:r>
            <a:r>
              <a:rPr lang="en-US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pt-BR" sz="16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interativo</a:t>
            </a:r>
            <a:endParaRPr lang="pt-BR" sz="1600" noProof="1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9FFAD4-9EFC-0A25-F055-C4CC408617C9}"/>
              </a:ext>
            </a:extLst>
          </p:cNvPr>
          <p:cNvSpPr/>
          <p:nvPr/>
        </p:nvSpPr>
        <p:spPr>
          <a:xfrm>
            <a:off x="6821805" y="2220008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B5616C-BA87-D78C-41F2-F936952DDA6F}"/>
              </a:ext>
            </a:extLst>
          </p:cNvPr>
          <p:cNvSpPr/>
          <p:nvPr/>
        </p:nvSpPr>
        <p:spPr>
          <a:xfrm>
            <a:off x="6821805" y="2021888"/>
            <a:ext cx="1965960" cy="381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chemeClr val="bg2"/>
                </a:solidFill>
              </a:rPr>
              <a:t>APOIO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914706E-F287-D253-CC83-34BE075F8347}"/>
              </a:ext>
            </a:extLst>
          </p:cNvPr>
          <p:cNvSpPr/>
          <p:nvPr/>
        </p:nvSpPr>
        <p:spPr>
          <a:xfrm>
            <a:off x="6913245" y="24943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3D7053F-9DA7-8DBB-3D07-436C7DC22D39}"/>
              </a:ext>
            </a:extLst>
          </p:cNvPr>
          <p:cNvSpPr/>
          <p:nvPr/>
        </p:nvSpPr>
        <p:spPr>
          <a:xfrm>
            <a:off x="6936918" y="32470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Check-ins regulares de progresso e ajustes c</a:t>
            </a:r>
            <a:r>
              <a:rPr lang="pt-BR" sz="16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ontinuos</a:t>
            </a:r>
            <a:endParaRPr lang="pt-BR" sz="1600" noProof="1">
              <a:latin typeface="Calibri"/>
              <a:ea typeface="Calibri"/>
              <a:cs typeface="Calibri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731EF04-DDCD-721D-1CE4-FCDCB755E8C6}"/>
              </a:ext>
            </a:extLst>
          </p:cNvPr>
          <p:cNvSpPr/>
          <p:nvPr/>
        </p:nvSpPr>
        <p:spPr>
          <a:xfrm>
            <a:off x="0" y="48763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Desempenho</a:t>
            </a:r>
            <a:endParaRPr lang="pt-BR" sz="800">
              <a:latin typeface="Calibri"/>
              <a:ea typeface="Calibri"/>
              <a:cs typeface="Calibri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EF04394-3B6F-2772-8383-3656572BE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9" y="2421938"/>
            <a:ext cx="638175" cy="7048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5DDF323E-AE72-1C6E-5DC6-E203C130E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47" y="2528618"/>
            <a:ext cx="571500" cy="66675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97C9A527-69B7-D9EF-6043-55F4FC99F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036" y="2414567"/>
            <a:ext cx="523875" cy="619125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E01BB54D-DD82-22CC-D3AF-671F66931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945" y="2494328"/>
            <a:ext cx="555026" cy="64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3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| DASHBOARD POWER BI — PAINEL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0A1520"/>
          </a:solidFill>
          <a:ln w="254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Captura de Tela do Dashboard Power BI — Painel 1 ]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Saedi Huiza Flores | Análise de Desempenho</a:t>
            </a:r>
            <a:endParaRPr lang="en-US" sz="800" dirty="0"/>
          </a:p>
        </p:txBody>
      </p:sp>
      <p:pic>
        <p:nvPicPr>
          <p:cNvPr id="8" name="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DA5A701-9598-1A6B-0A96-87FC1A0A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8" r="1307" b="2604"/>
          <a:stretch>
            <a:fillRect/>
          </a:stretch>
        </p:blipFill>
        <p:spPr>
          <a:xfrm>
            <a:off x="669446" y="772155"/>
            <a:ext cx="8031803" cy="4029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| DASHBOARD POWER BI — PAINEL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0A1520"/>
          </a:solidFill>
          <a:ln w="254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Captura de Tela do Dashboard Power BI — Painel 2 ]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Saedi Huiza Flores | Análise de Desempenho</a:t>
            </a:r>
            <a:endParaRPr lang="en-US" sz="800" dirty="0"/>
          </a:p>
        </p:txBody>
      </p:sp>
      <p:pic>
        <p:nvPicPr>
          <p:cNvPr id="9" name="Imagem 8" descr="Interface gráfica do usuário, Gráfico, Aplicativo&#10;&#10;O conteúdo gerado por IA pode estar incorreto.">
            <a:extLst>
              <a:ext uri="{FF2B5EF4-FFF2-40B4-BE49-F238E27FC236}">
                <a16:creationId xmlns:a16="http://schemas.microsoft.com/office/drawing/2014/main" id="{1503D097-CE7F-6034-847D-1B7AF429E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06" y="761372"/>
            <a:ext cx="8851421" cy="43647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53824-3945-1F08-5932-2F9E5DBD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9D18B8-E77E-FA93-DA97-A3A642FDE328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5C5BFA-88D8-51BC-9CE3-320D425CC2BC}"/>
              </a:ext>
            </a:extLst>
          </p:cNvPr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mbria"/>
                <a:ea typeface="Cambria"/>
              </a:rPr>
              <a:t>PRINCIPAIS INSITGHS</a:t>
            </a:r>
            <a:endParaRPr lang="en-US" sz="28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1CA17B-F9B6-D4FA-E7E9-CDA93545E676}"/>
              </a:ext>
            </a:extLst>
          </p:cNvPr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Saedi </a:t>
            </a:r>
            <a:r>
              <a:rPr lang="en-US" sz="900" noProof="1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Huiza </a:t>
            </a:r>
            <a:r>
              <a:rPr lang="en-US" sz="900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Flores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346111-9CAC-F22C-74DE-42FD8501DABE}"/>
              </a:ext>
            </a:extLst>
          </p:cNvPr>
          <p:cNvSpPr/>
          <p:nvPr/>
        </p:nvSpPr>
        <p:spPr>
          <a:xfrm>
            <a:off x="1132115" y="1165859"/>
            <a:ext cx="3128553" cy="105482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86E669-2455-9A91-68E5-EEB0AEE51F5D}"/>
              </a:ext>
            </a:extLst>
          </p:cNvPr>
          <p:cNvSpPr/>
          <p:nvPr/>
        </p:nvSpPr>
        <p:spPr>
          <a:xfrm>
            <a:off x="1171521" y="1159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4BC743-3343-3C34-52D8-25FE9407441D}"/>
              </a:ext>
            </a:extLst>
          </p:cNvPr>
          <p:cNvSpPr/>
          <p:nvPr/>
        </p:nvSpPr>
        <p:spPr>
          <a:xfrm>
            <a:off x="1518775" y="1184583"/>
            <a:ext cx="2653936" cy="31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Capacidade de economia ainda baixa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31F0C3-83CB-15DD-568A-7C094DB81BFF}"/>
              </a:ext>
            </a:extLst>
          </p:cNvPr>
          <p:cNvSpPr/>
          <p:nvPr/>
        </p:nvSpPr>
        <p:spPr>
          <a:xfrm>
            <a:off x="1426250" y="1584961"/>
            <a:ext cx="2697477" cy="498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 maioria dos clientes economiza entre 5% e 20%  da renda isso indica  necessidade de planejamento  e </a:t>
            </a:r>
            <a:r>
              <a:rPr lang="pt-BR" sz="10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diciplina </a:t>
            </a:r>
            <a:r>
              <a:rPr lang="pt-BR" sz="10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financeira para fortalecer a reserva de </a:t>
            </a:r>
            <a:r>
              <a:rPr lang="pt-BR" sz="10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emergencia </a:t>
            </a:r>
            <a:endParaRPr lang="pt-BR" noProof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A9CEF5-3114-A263-AA3A-965167670C01}"/>
              </a:ext>
            </a:extLst>
          </p:cNvPr>
          <p:cNvSpPr/>
          <p:nvPr/>
        </p:nvSpPr>
        <p:spPr>
          <a:xfrm>
            <a:off x="1126671" y="2419893"/>
            <a:ext cx="3123112" cy="1011283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13273E-32A8-7EF4-0E98-5F855BBE025E}"/>
              </a:ext>
            </a:extLst>
          </p:cNvPr>
          <p:cNvSpPr/>
          <p:nvPr/>
        </p:nvSpPr>
        <p:spPr>
          <a:xfrm>
            <a:off x="1176964" y="245146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7479CF-0A3A-8838-31E4-4047CEB929C1}"/>
              </a:ext>
            </a:extLst>
          </p:cNvPr>
          <p:cNvSpPr/>
          <p:nvPr/>
        </p:nvSpPr>
        <p:spPr>
          <a:xfrm>
            <a:off x="1540547" y="2650888"/>
            <a:ext cx="2768236" cy="88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noProof="1">
                <a:solidFill>
                  <a:srgbClr val="0D1B2A"/>
                </a:solidFill>
                <a:ea typeface="Calibri"/>
                <a:cs typeface="Calibri"/>
              </a:rPr>
              <a:t>Alimentação é a principal categoria de gasto</a:t>
            </a:r>
            <a:endParaRPr lang="en-US" noProof="1"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CA9280D-C659-FFF1-C7C4-7D355152C1D2}"/>
              </a:ext>
            </a:extLst>
          </p:cNvPr>
          <p:cNvSpPr/>
          <p:nvPr/>
        </p:nvSpPr>
        <p:spPr>
          <a:xfrm>
            <a:off x="1431690" y="2838995"/>
            <a:ext cx="2828107" cy="66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Mias de 40% de clientes tem alimentação como o maior gasto.E a categoria com maior impacto no orçamento mensal e a maior potencial de otimização</a:t>
            </a:r>
            <a:endParaRPr lang="pt-BR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7CF80EC-3899-A3DD-C30C-9F75DC47E931}"/>
              </a:ext>
            </a:extLst>
          </p:cNvPr>
          <p:cNvSpPr/>
          <p:nvPr/>
        </p:nvSpPr>
        <p:spPr>
          <a:xfrm>
            <a:off x="1126671" y="3663043"/>
            <a:ext cx="3117669" cy="113646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F7A59B-9AA0-6079-C58A-EB275CB3A643}"/>
              </a:ext>
            </a:extLst>
          </p:cNvPr>
          <p:cNvSpPr/>
          <p:nvPr/>
        </p:nvSpPr>
        <p:spPr>
          <a:xfrm>
            <a:off x="1176963" y="36456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B87EB03-E0FB-6C30-0378-870297E7CEEF}"/>
              </a:ext>
            </a:extLst>
          </p:cNvPr>
          <p:cNvSpPr/>
          <p:nvPr/>
        </p:nvSpPr>
        <p:spPr>
          <a:xfrm>
            <a:off x="1562318" y="3850494"/>
            <a:ext cx="2572293" cy="23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noProof="1">
                <a:solidFill>
                  <a:srgbClr val="0D1B2A"/>
                </a:solidFill>
                <a:ea typeface="Calibri"/>
                <a:cs typeface="Calibri"/>
              </a:rPr>
              <a:t>Risco financeiro concentrado em jovens de menor renda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762502F-4D8F-9A7C-F058-0CA3E3228E7E}"/>
              </a:ext>
            </a:extLst>
          </p:cNvPr>
          <p:cNvSpPr/>
          <p:nvPr/>
        </p:nvSpPr>
        <p:spPr>
          <a:xfrm>
            <a:off x="1426246" y="4229101"/>
            <a:ext cx="2681150" cy="520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1">
                <a:solidFill>
                  <a:srgbClr val="7F8C8D"/>
                </a:solidFill>
                <a:ea typeface="Calibri"/>
                <a:cs typeface="Calibri"/>
              </a:rPr>
              <a:t>Clientes com renda ate 3000 apresentam maior comprometimento da renda e menor capacidade de economia , indicando maior vulnerabilidade financeira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EE3B325-A717-1237-660E-B768CBA03536}"/>
              </a:ext>
            </a:extLst>
          </p:cNvPr>
          <p:cNvSpPr/>
          <p:nvPr/>
        </p:nvSpPr>
        <p:spPr>
          <a:xfrm>
            <a:off x="5414282" y="1167492"/>
            <a:ext cx="3270069" cy="106026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0F35E2-3EC6-0A69-C634-37DA3D92937C}"/>
              </a:ext>
            </a:extLst>
          </p:cNvPr>
          <p:cNvSpPr/>
          <p:nvPr/>
        </p:nvSpPr>
        <p:spPr>
          <a:xfrm>
            <a:off x="5502674" y="11555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2FD85D5-4835-12FA-03C2-7D65EAE18A97}"/>
              </a:ext>
            </a:extLst>
          </p:cNvPr>
          <p:cNvSpPr/>
          <p:nvPr/>
        </p:nvSpPr>
        <p:spPr>
          <a:xfrm>
            <a:off x="6002328" y="121887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noProof="1">
                <a:solidFill>
                  <a:srgbClr val="0D1B2A"/>
                </a:solidFill>
                <a:ea typeface="Calibri"/>
                <a:cs typeface="Calibri"/>
              </a:rPr>
              <a:t>Faixa etária predominante:20 a 30 anos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DF1F392-5E48-ABDD-CD5D-E8085EAFDB58}"/>
              </a:ext>
            </a:extLst>
          </p:cNvPr>
          <p:cNvSpPr/>
          <p:nvPr/>
        </p:nvSpPr>
        <p:spPr>
          <a:xfrm>
            <a:off x="6002328" y="169545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O publico é majoritariamente jovem, em fase de inicio de carreira reforçando a importância da educação financeira  desde cedo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77C2327-906B-DED5-052C-90338106BC07}"/>
              </a:ext>
            </a:extLst>
          </p:cNvPr>
          <p:cNvSpPr/>
          <p:nvPr/>
        </p:nvSpPr>
        <p:spPr>
          <a:xfrm>
            <a:off x="5444544" y="2425555"/>
            <a:ext cx="3253741" cy="10820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EF30082-8F59-A21A-4727-DD149F749A4A}"/>
              </a:ext>
            </a:extLst>
          </p:cNvPr>
          <p:cNvSpPr/>
          <p:nvPr/>
        </p:nvSpPr>
        <p:spPr>
          <a:xfrm>
            <a:off x="5501586" y="24699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BEF9AC1-7E7A-F888-D25A-CF77F8063F06}"/>
              </a:ext>
            </a:extLst>
          </p:cNvPr>
          <p:cNvSpPr/>
          <p:nvPr/>
        </p:nvSpPr>
        <p:spPr>
          <a:xfrm>
            <a:off x="6001240" y="2468009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noProof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Acompanhamento continuo gera evolução</a:t>
            </a:r>
            <a:endParaRPr lang="en-US" sz="1300" b="1" noProof="1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1F60447-9287-8EE5-34A5-150E1F50E9B3}"/>
              </a:ext>
            </a:extLst>
          </p:cNvPr>
          <p:cNvSpPr/>
          <p:nvPr/>
        </p:nvSpPr>
        <p:spPr>
          <a:xfrm>
            <a:off x="6001242" y="2928263"/>
            <a:ext cx="2196731" cy="48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1">
                <a:solidFill>
                  <a:srgbClr val="7F8C8D"/>
                </a:solidFill>
                <a:ea typeface="Calibri"/>
                <a:cs typeface="Calibri"/>
              </a:rPr>
              <a:t>Clientes que acompanham indicadores mensalmente  apresentam melhora gradual na economia e redução de gastos superfluos  ao longo do tempo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DE39066-CBB4-D275-0D70-0D75316CA3D0}"/>
              </a:ext>
            </a:extLst>
          </p:cNvPr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noProof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Saedi Huiza Flores | Análise de Desempenho</a:t>
            </a:r>
            <a:endParaRPr lang="en-US" sz="800" noProof="1">
              <a:latin typeface="Calibri"/>
              <a:ea typeface="Calibri"/>
              <a:cs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DD2472F-6FF4-E121-6DCC-06664F5FC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32" y="1157969"/>
            <a:ext cx="634093" cy="62865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2605D249-1841-ECC3-1DFF-159512A76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17" y="2575833"/>
            <a:ext cx="586468" cy="55789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8FE280D7-93EE-9C90-91D3-433C62134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97" y="3850822"/>
            <a:ext cx="601435" cy="60959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661766D-FF22-84BB-4E2F-7BD189FFA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19" y="1185182"/>
            <a:ext cx="610962" cy="61776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B5A547A3-946F-3E8A-4AD3-A72F9410F7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919" y="2572430"/>
            <a:ext cx="604159" cy="68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9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5486400" cy="54864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1A78C2">
              <a:alpha val="15000"/>
            </a:srgbClr>
          </a:solidFill>
          <a:ln w="12700">
            <a:solidFill>
              <a:srgbClr val="1A78C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5200" b="1" dirty="0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Obrigado</a:t>
            </a:r>
            <a:r>
              <a:rPr lang="pt-BR" sz="52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!</a:t>
            </a:r>
            <a:endParaRPr lang="pt-BR" sz="5200" dirty="0">
              <a:latin typeface="Cambria"/>
              <a:ea typeface="Cambr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1A78C2"/>
          </a:solidFill>
          <a:ln w="12700">
            <a:solidFill>
              <a:srgbClr val="1A78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98DB"/>
                </a:solidFill>
                <a:latin typeface="Calibri"/>
                <a:ea typeface="Calibri"/>
                <a:cs typeface="Calibri"/>
              </a:rPr>
              <a:t>Saedi </a:t>
            </a:r>
            <a:r>
              <a:rPr lang="en-US" sz="1800" noProof="1">
                <a:solidFill>
                  <a:srgbClr val="3498DB"/>
                </a:solidFill>
                <a:latin typeface="Calibri"/>
                <a:ea typeface="Calibri"/>
                <a:cs typeface="Calibri"/>
              </a:rPr>
              <a:t>Huiza </a:t>
            </a:r>
            <a:r>
              <a:rPr lang="en-US" sz="1800" dirty="0">
                <a:solidFill>
                  <a:srgbClr val="3498DB"/>
                </a:solidFill>
                <a:latin typeface="Calibri"/>
                <a:ea typeface="Calibri"/>
                <a:cs typeface="Calibri"/>
              </a:rPr>
              <a:t>Flores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DATAMONEY NEXT | Dashboard </a:t>
            </a:r>
            <a:r>
              <a:rPr lang="pt-BR" sz="1200" i="1" noProof="1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200" i="1" noProof="1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Tempo Real com </a:t>
            </a:r>
            <a:r>
              <a:rPr lang="en-US" sz="1200" i="1" noProof="1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Power</a:t>
            </a:r>
            <a:r>
              <a:rPr lang="en-US" sz="1200" i="1" dirty="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 BI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Dúvidas</a:t>
            </a:r>
            <a:r>
              <a:rPr lang="pt-BR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 </a:t>
            </a:r>
            <a:r>
              <a:rPr lang="pt-BR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Estou</a:t>
            </a:r>
            <a:r>
              <a:rPr lang="pt-BR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à </a:t>
            </a:r>
            <a:r>
              <a:rPr lang="pt-BR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disposição</a:t>
            </a:r>
            <a:r>
              <a:rPr lang="pt-BR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pt-BR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| USO INTERNO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337</Words>
  <Application>Microsoft Office PowerPoint</Application>
  <PresentationFormat>Apresentação na tela (16:9)</PresentationFormat>
  <Paragraphs>91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Desempenho</dc:title>
  <dc:subject>PptxGenJS Presentation</dc:subject>
  <dc:creator>Saedi Huiza Flores</dc:creator>
  <cp:lastModifiedBy>WIN 10</cp:lastModifiedBy>
  <cp:revision>671</cp:revision>
  <dcterms:created xsi:type="dcterms:W3CDTF">2026-06-17T12:21:44Z</dcterms:created>
  <dcterms:modified xsi:type="dcterms:W3CDTF">2026-07-26T20:45:32Z</dcterms:modified>
</cp:coreProperties>
</file>